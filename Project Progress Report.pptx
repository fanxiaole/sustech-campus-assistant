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A9BD"/>
          </a:solidFill>
          <a:ln w="12700">
            <a:solidFill>
              <a:srgbClr val="02A9B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005840"/>
            <a:ext cx="109728" cy="3108960"/>
          </a:xfrm>
          <a:prstGeom prst="rect">
            <a:avLst/>
          </a:prstGeom>
          <a:solidFill>
            <a:srgbClr val="1A7BA4"/>
          </a:solidFill>
          <a:ln w="12700">
            <a:solidFill>
              <a:srgbClr val="1A7B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365760"/>
            <a:ext cx="2926080" cy="2926080"/>
          </a:xfrm>
          <a:prstGeom prst="ellipse">
            <a:avLst/>
          </a:prstGeom>
          <a:solidFill>
            <a:srgbClr val="1A7BA4">
              <a:alpha val="15000"/>
            </a:srgbClr>
          </a:solidFill>
          <a:ln w="12700">
            <a:solidFill>
              <a:srgbClr val="1A7BA4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0" y="182880"/>
            <a:ext cx="1828800" cy="1828800"/>
          </a:xfrm>
          <a:prstGeom prst="ellipse">
            <a:avLst/>
          </a:prstGeom>
          <a:solidFill>
            <a:srgbClr val="02A9BD">
              <a:alpha val="25000"/>
            </a:srgbClr>
          </a:solidFill>
          <a:ln w="12700">
            <a:solidFill>
              <a:srgbClr val="02A9BD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005840"/>
            <a:ext cx="749808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SUSTech Campus Knowledge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Construction with RAG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6858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for Campus Q&amp;A System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3657600"/>
            <a:ext cx="1627632" cy="347472"/>
          </a:xfrm>
          <a:prstGeom prst="roundRect">
            <a:avLst>
              <a:gd name="adj" fmla="val 15789"/>
            </a:avLst>
          </a:prstGeom>
          <a:solidFill>
            <a:srgbClr val="1A7BA4">
              <a:alpha val="70000"/>
            </a:srgbClr>
          </a:solidFill>
          <a:ln w="12700">
            <a:solidFill>
              <a:srgbClr val="02A9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657600"/>
            <a:ext cx="162763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3657600"/>
            <a:ext cx="1627632" cy="347472"/>
          </a:xfrm>
          <a:prstGeom prst="roundRect">
            <a:avLst>
              <a:gd name="adj" fmla="val 15789"/>
            </a:avLst>
          </a:prstGeom>
          <a:solidFill>
            <a:srgbClr val="1A7BA4">
              <a:alpha val="70000"/>
            </a:srgbClr>
          </a:solidFill>
          <a:ln w="12700">
            <a:solidFill>
              <a:srgbClr val="02A9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3657600"/>
            <a:ext cx="162763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Retrieval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3657600"/>
            <a:ext cx="1627632" cy="347472"/>
          </a:xfrm>
          <a:prstGeom prst="roundRect">
            <a:avLst>
              <a:gd name="adj" fmla="val 15789"/>
            </a:avLst>
          </a:prstGeom>
          <a:solidFill>
            <a:srgbClr val="1A7BA4">
              <a:alpha val="70000"/>
            </a:srgbClr>
          </a:solidFill>
          <a:ln w="12700">
            <a:solidFill>
              <a:srgbClr val="02A9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3657600"/>
            <a:ext cx="162763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88465" y="4229100"/>
            <a:ext cx="1627632" cy="347472"/>
          </a:xfrm>
          <a:prstGeom prst="roundRect">
            <a:avLst>
              <a:gd name="adj" fmla="val 15789"/>
            </a:avLst>
          </a:prstGeom>
          <a:solidFill>
            <a:srgbClr val="1A7BA4">
              <a:alpha val="70000"/>
            </a:srgbClr>
          </a:solidFill>
          <a:ln w="12700">
            <a:solidFill>
              <a:srgbClr val="02A9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88465" y="4229100"/>
            <a:ext cx="162763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38525" y="4229100"/>
            <a:ext cx="1627632" cy="347472"/>
          </a:xfrm>
          <a:prstGeom prst="roundRect">
            <a:avLst>
              <a:gd name="adj" fmla="val 15789"/>
            </a:avLst>
          </a:prstGeom>
          <a:solidFill>
            <a:srgbClr val="1A7BA4">
              <a:alpha val="70000"/>
            </a:srgbClr>
          </a:solidFill>
          <a:ln w="12700">
            <a:solidFill>
              <a:srgbClr val="02A9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38525" y="4229100"/>
            <a:ext cx="162763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· SUSTech AI Large Language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· 2026</a:t>
            </a:r>
            <a:endParaRPr lang="en-US" sz="1100" dirty="0"/>
          </a:p>
        </p:txBody>
      </p:sp>
      <p:sp>
        <p:nvSpPr>
          <p:cNvPr id="20" name="Shape 6"/>
          <p:cNvSpPr/>
          <p:nvPr/>
        </p:nvSpPr>
        <p:spPr>
          <a:xfrm>
            <a:off x="949960" y="2392680"/>
            <a:ext cx="1627632" cy="347472"/>
          </a:xfrm>
          <a:prstGeom prst="roundRect">
            <a:avLst>
              <a:gd name="adj" fmla="val 15789"/>
            </a:avLst>
          </a:prstGeom>
          <a:solidFill>
            <a:srgbClr val="1A7BA4">
              <a:alpha val="70000"/>
            </a:srgbClr>
          </a:solidFill>
          <a:ln w="12700">
            <a:solidFill>
              <a:srgbClr val="02A9BD"/>
            </a:solidFill>
            <a:prstDash val="solid"/>
          </a:ln>
        </p:spPr>
      </p:sp>
      <p:sp>
        <p:nvSpPr>
          <p:cNvPr id="21" name="Shape 6"/>
          <p:cNvSpPr/>
          <p:nvPr/>
        </p:nvSpPr>
        <p:spPr>
          <a:xfrm>
            <a:off x="2868930" y="2391410"/>
            <a:ext cx="1627632" cy="347472"/>
          </a:xfrm>
          <a:prstGeom prst="roundRect">
            <a:avLst>
              <a:gd name="adj" fmla="val 15789"/>
            </a:avLst>
          </a:prstGeom>
          <a:solidFill>
            <a:srgbClr val="1A7BA4">
              <a:alpha val="70000"/>
            </a:srgbClr>
          </a:solidFill>
          <a:ln w="12700">
            <a:solidFill>
              <a:srgbClr val="02A9BD"/>
            </a:solidFill>
            <a:prstDash val="solid"/>
          </a:ln>
        </p:spPr>
      </p:sp>
      <p:sp>
        <p:nvSpPr>
          <p:cNvPr id="22" name="Shape 6"/>
          <p:cNvSpPr/>
          <p:nvPr/>
        </p:nvSpPr>
        <p:spPr>
          <a:xfrm>
            <a:off x="4787900" y="2391410"/>
            <a:ext cx="1627632" cy="347472"/>
          </a:xfrm>
          <a:prstGeom prst="roundRect">
            <a:avLst>
              <a:gd name="adj" fmla="val 15789"/>
            </a:avLst>
          </a:prstGeom>
          <a:solidFill>
            <a:srgbClr val="1A7BA4">
              <a:alpha val="70000"/>
            </a:srgbClr>
          </a:solidFill>
          <a:ln w="12700">
            <a:solidFill>
              <a:srgbClr val="02A9BD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2872740" y="2391410"/>
            <a:ext cx="162763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张栩</a:t>
            </a:r>
            <a:r>
              <a:rPr lang="en-US" altLang="zh-CN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12412509</a:t>
            </a:r>
            <a:endParaRPr lang="en-US" altLang="zh-CN" sz="11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6" name="Text 15"/>
          <p:cNvSpPr/>
          <p:nvPr/>
        </p:nvSpPr>
        <p:spPr>
          <a:xfrm>
            <a:off x="4795520" y="2381885"/>
            <a:ext cx="162763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范晓乐</a:t>
            </a:r>
            <a:r>
              <a:rPr lang="en-US" altLang="zh-CN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12412307</a:t>
            </a:r>
            <a:endParaRPr lang="en-US" altLang="zh-CN" sz="11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7" name="Text 15"/>
          <p:cNvSpPr/>
          <p:nvPr/>
        </p:nvSpPr>
        <p:spPr>
          <a:xfrm>
            <a:off x="938530" y="2403475"/>
            <a:ext cx="162763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杨伟铭</a:t>
            </a:r>
            <a:r>
              <a:rPr lang="en-US" altLang="zh-CN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12412301</a:t>
            </a:r>
            <a:endParaRPr lang="en-US" altLang="zh-CN" sz="11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项目总览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7373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2834640" cy="4023360"/>
          </a:xfrm>
          <a:prstGeom prst="rect">
            <a:avLst/>
          </a:prstGeom>
          <a:solidFill>
            <a:srgbClr val="F0F7FF"/>
          </a:solidFill>
          <a:ln w="19050">
            <a:solidFill>
              <a:srgbClr val="1A7B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68680"/>
            <a:ext cx="2834640" cy="475488"/>
          </a:xfrm>
          <a:prstGeom prst="rect">
            <a:avLst/>
          </a:prstGeom>
          <a:solidFill>
            <a:srgbClr val="1A7BA4"/>
          </a:solidFill>
          <a:ln w="12700">
            <a:solidFill>
              <a:srgbClr val="1A7B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68680"/>
            <a:ext cx="28346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核心主题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1463040"/>
            <a:ext cx="2606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校园专属问答系统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084832"/>
            <a:ext cx="2606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技术构建知识库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706624"/>
            <a:ext cx="2606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可复现、可评测、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+mn-ea"/>
              </a:rPr>
              <a:t>可现场演示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3328416"/>
            <a:ext cx="2606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27832" y="868680"/>
            <a:ext cx="2834640" cy="4023360"/>
          </a:xfrm>
          <a:prstGeom prst="rect">
            <a:avLst/>
          </a:prstGeom>
          <a:solidFill>
            <a:srgbClr val="F0F7FF"/>
          </a:solidFill>
          <a:ln w="19050">
            <a:solidFill>
              <a:srgbClr val="02A9B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27832" y="868680"/>
            <a:ext cx="2834640" cy="475488"/>
          </a:xfrm>
          <a:prstGeom prst="rect">
            <a:avLst/>
          </a:prstGeom>
          <a:solidFill>
            <a:srgbClr val="02A9BD"/>
          </a:solidFill>
          <a:ln w="12700">
            <a:solidFill>
              <a:srgbClr val="02A9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27832" y="868680"/>
            <a:ext cx="28346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研究目标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64992" y="1463040"/>
            <a:ext cx="2606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vs LLM</a:t>
            </a:r>
            <a:r>
              <a:rPr lang="zh-CN" alt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效果差异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zh-CN" altLang="en-US" sz="13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342132" y="2089404"/>
            <a:ext cx="2606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构建校园知识库索引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42132" y="2701036"/>
            <a:ext cx="2606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 RAG 评测闭环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81344" y="868680"/>
            <a:ext cx="2834640" cy="4023360"/>
          </a:xfrm>
          <a:prstGeom prst="rect">
            <a:avLst/>
          </a:prstGeom>
          <a:solidFill>
            <a:srgbClr val="F0F7FF"/>
          </a:solidFill>
          <a:ln w="1905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81344" y="868680"/>
            <a:ext cx="2834640" cy="4754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81344" y="868680"/>
            <a:ext cx="28346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核心任务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18504" y="1463040"/>
            <a:ext cx="2606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数据清洗与 Chunk 构建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18504" y="2084832"/>
            <a:ext cx="2606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向量化与检索系统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18504" y="2706624"/>
            <a:ext cx="2606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本地大模型部署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18504" y="3328416"/>
            <a:ext cx="2606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消融实验与评测报告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74320" y="4681728"/>
            <a:ext cx="859536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A7BA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681728"/>
            <a:ext cx="8595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7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数据规模：原始网页约 38,835 条 ｜ 约 6,755 万中文字符 ｜ 覆盖 104 个域名 ｜ 已发现重复 URL 约 12,580 条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0" y="0"/>
            <a:ext cx="17373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114800" cy="3520440"/>
          </a:xfrm>
          <a:prstGeom prst="rect">
            <a:avLst/>
          </a:prstGeom>
          <a:solidFill>
            <a:srgbClr val="EFF6FF"/>
          </a:solidFill>
          <a:ln w="19050">
            <a:solidFill>
              <a:srgbClr val="1A7B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4114800" cy="475488"/>
          </a:xfrm>
          <a:prstGeom prst="rect">
            <a:avLst/>
          </a:prstGeom>
          <a:solidFill>
            <a:srgbClr val="1A7BA4"/>
          </a:solidFill>
          <a:ln w="12700">
            <a:solidFill>
              <a:srgbClr val="1A7B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68680"/>
            <a:ext cx="41148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网页爬取数据  |  web_crawl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463040"/>
            <a:ext cx="822960" cy="292608"/>
          </a:xfrm>
          <a:prstGeom prst="rect">
            <a:avLst/>
          </a:prstGeom>
          <a:solidFill>
            <a:srgbClr val="1A7BA4"/>
          </a:solidFill>
          <a:ln w="12700">
            <a:solidFill>
              <a:srgbClr val="1A7B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63040"/>
            <a:ext cx="8229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学校主站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25880" y="1463040"/>
            <a:ext cx="29260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www.sustech.edu.cn – 官方事实、规章制度、信息公开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139696"/>
            <a:ext cx="822960" cy="292608"/>
          </a:xfrm>
          <a:prstGeom prst="rect">
            <a:avLst/>
          </a:prstGeom>
          <a:solidFill>
            <a:srgbClr val="1A7BA4"/>
          </a:solidFill>
          <a:ln w="12700">
            <a:solidFill>
              <a:srgbClr val="1A7B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139696"/>
            <a:ext cx="8229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院系官网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25880" y="2139696"/>
            <a:ext cx="29260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各院系介绍、教师主页、科研新闻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816352"/>
            <a:ext cx="822960" cy="292608"/>
          </a:xfrm>
          <a:prstGeom prst="rect">
            <a:avLst/>
          </a:prstGeom>
          <a:solidFill>
            <a:srgbClr val="1A7BA4"/>
          </a:solidFill>
          <a:ln w="12700">
            <a:solidFill>
              <a:srgbClr val="1A7B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816352"/>
            <a:ext cx="8229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图书馆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25880" y="2816352"/>
            <a:ext cx="29260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借阅服务、数据库资源、开放时间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493008"/>
            <a:ext cx="822960" cy="292608"/>
          </a:xfrm>
          <a:prstGeom prst="rect">
            <a:avLst/>
          </a:prstGeom>
          <a:solidFill>
            <a:srgbClr val="1A7BA4"/>
          </a:solidFill>
          <a:ln w="12700">
            <a:solidFill>
              <a:srgbClr val="1A7B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493008"/>
            <a:ext cx="8229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新闻公告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25880" y="3493008"/>
            <a:ext cx="29260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活动通知、成果发布、公告栏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868680"/>
            <a:ext cx="4114800" cy="3520440"/>
          </a:xfrm>
          <a:prstGeom prst="rect">
            <a:avLst/>
          </a:prstGeom>
          <a:solidFill>
            <a:srgbClr val="ECFDF5"/>
          </a:solidFill>
          <a:ln w="19050">
            <a:solidFill>
              <a:srgbClr val="02A9B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868680"/>
            <a:ext cx="4114800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868680"/>
            <a:ext cx="41148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南科手册  |  manual_repo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92040" y="1463040"/>
            <a:ext cx="82296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1463040"/>
            <a:ext cx="8229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校园生活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806440" y="1463040"/>
            <a:ext cx="29260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食堂、设施、交通巴士信息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92040" y="2139696"/>
            <a:ext cx="82296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139696"/>
            <a:ext cx="8229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应急信息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806440" y="2139696"/>
            <a:ext cx="29260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紧急联系、安全指引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92040" y="2816352"/>
            <a:ext cx="82296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816352"/>
            <a:ext cx="8229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新生指南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806440" y="2816352"/>
            <a:ext cx="29260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入学流程、校园导航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92040" y="3493008"/>
            <a:ext cx="82296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3493008"/>
            <a:ext cx="8229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学习事务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806440" y="3493008"/>
            <a:ext cx="29260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选课、图书馆、科研资源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4572000"/>
            <a:ext cx="2011680" cy="51206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74320" y="4572000"/>
            <a:ext cx="201168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38,835</a:t>
            </a:r>
            <a:endParaRPr lang="en-US" sz="18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原始页面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2450592" y="4572000"/>
            <a:ext cx="2011680" cy="51206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450592" y="4572000"/>
            <a:ext cx="201168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6,755万</a:t>
            </a:r>
            <a:endParaRPr lang="en-US" sz="18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中文字符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4626864" y="4572000"/>
            <a:ext cx="2011680" cy="51206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626864" y="4572000"/>
            <a:ext cx="201168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18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覆盖域名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6803136" y="4572000"/>
            <a:ext cx="2011680" cy="51206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803136" y="4572000"/>
            <a:ext cx="201168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BY-SA</a:t>
            </a:r>
            <a:endParaRPr lang="en-US" sz="18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手册协议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数据预处理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945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1572768" cy="1554480"/>
          </a:xfrm>
          <a:prstGeom prst="rect">
            <a:avLst/>
          </a:prstGeom>
          <a:solidFill>
            <a:srgbClr val="1A7BA4"/>
          </a:solidFill>
          <a:ln w="12700">
            <a:solidFill>
              <a:srgbClr val="1A7B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" y="960120"/>
            <a:ext cx="157276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" y="1325880"/>
            <a:ext cx="157276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数据读取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" y="1664208"/>
            <a:ext cx="1572768" cy="7132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0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统一读取 JSONL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0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和 Markdown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755648" y="1618488"/>
            <a:ext cx="192024" cy="73152"/>
          </a:xfrm>
          <a:prstGeom prst="rect">
            <a:avLst/>
          </a:prstGeom>
          <a:solidFill>
            <a:srgbClr val="02A9BD"/>
          </a:solidFill>
          <a:ln w="12700">
            <a:solidFill>
              <a:srgbClr val="02A9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92224" y="1536192"/>
            <a:ext cx="182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947672" y="914400"/>
            <a:ext cx="1572768" cy="1554480"/>
          </a:xfrm>
          <a:prstGeom prst="rect">
            <a:avLst/>
          </a:prstGeom>
          <a:solidFill>
            <a:srgbClr val="1A7BA4"/>
          </a:solidFill>
          <a:ln w="12700">
            <a:solidFill>
              <a:srgbClr val="1A7B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47672" y="960120"/>
            <a:ext cx="157276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947672" y="1325880"/>
            <a:ext cx="157276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清洗过滤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47672" y="1664208"/>
            <a:ext cx="1572768" cy="7132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0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去导航/页脚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0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过滤空页/SPA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520440" y="1618488"/>
            <a:ext cx="192024" cy="73152"/>
          </a:xfrm>
          <a:prstGeom prst="rect">
            <a:avLst/>
          </a:prstGeom>
          <a:solidFill>
            <a:srgbClr val="02A9BD"/>
          </a:solidFill>
          <a:ln w="12700">
            <a:solidFill>
              <a:srgbClr val="02A9B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57016" y="1536192"/>
            <a:ext cx="182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712464" y="914400"/>
            <a:ext cx="1572768" cy="1554480"/>
          </a:xfrm>
          <a:prstGeom prst="rect">
            <a:avLst/>
          </a:prstGeom>
          <a:solidFill>
            <a:srgbClr val="1A7BA4"/>
          </a:solidFill>
          <a:ln w="12700">
            <a:solidFill>
              <a:srgbClr val="1A7B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712464" y="960120"/>
            <a:ext cx="157276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712464" y="1325880"/>
            <a:ext cx="157276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去重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12464" y="1664208"/>
            <a:ext cx="1572768" cy="7132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0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规范化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0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text-hash 去重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285232" y="1618488"/>
            <a:ext cx="192024" cy="73152"/>
          </a:xfrm>
          <a:prstGeom prst="rect">
            <a:avLst/>
          </a:prstGeom>
          <a:solidFill>
            <a:srgbClr val="02A9BD"/>
          </a:solidFill>
          <a:ln w="12700">
            <a:solidFill>
              <a:srgbClr val="02A9B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21808" y="1536192"/>
            <a:ext cx="182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77256" y="914400"/>
            <a:ext cx="1572768" cy="1554480"/>
          </a:xfrm>
          <a:prstGeom prst="rect">
            <a:avLst/>
          </a:prstGeom>
          <a:solidFill>
            <a:srgbClr val="1A7BA4"/>
          </a:solidFill>
          <a:ln w="12700">
            <a:solidFill>
              <a:srgbClr val="1A7B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77256" y="960120"/>
            <a:ext cx="157276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477256" y="1325880"/>
            <a:ext cx="157276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切分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77256" y="1664208"/>
            <a:ext cx="1572768" cy="7132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0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网页按段落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0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手册按标题层级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050024" y="1618488"/>
            <a:ext cx="192024" cy="73152"/>
          </a:xfrm>
          <a:prstGeom prst="rect">
            <a:avLst/>
          </a:prstGeom>
          <a:solidFill>
            <a:srgbClr val="02A9BD"/>
          </a:solidFill>
          <a:ln w="12700">
            <a:solidFill>
              <a:srgbClr val="02A9B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86600" y="1536192"/>
            <a:ext cx="182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242048" y="914400"/>
            <a:ext cx="1572768" cy="1554480"/>
          </a:xfrm>
          <a:prstGeom prst="rect">
            <a:avLst/>
          </a:prstGeom>
          <a:solidFill>
            <a:srgbClr val="1A7BA4"/>
          </a:solidFill>
          <a:ln w="12700">
            <a:solidFill>
              <a:srgbClr val="1A7B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242048" y="960120"/>
            <a:ext cx="157276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242048" y="1325880"/>
            <a:ext cx="157276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元数据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242048" y="1664208"/>
            <a:ext cx="1572768" cy="7132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0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source_family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0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category/url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74320" y="2633472"/>
            <a:ext cx="3931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切分策略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46320" y="2633472"/>
            <a:ext cx="3931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手册结构化处理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74320" y="2880360"/>
            <a:ext cx="3931920" cy="1874520"/>
          </a:xfrm>
          <a:prstGeom prst="rect">
            <a:avLst/>
          </a:prstGeom>
          <a:solidFill>
            <a:srgbClr val="EFF6FF"/>
          </a:solidFill>
          <a:ln w="12700">
            <a:solidFill>
              <a:srgbClr val="1A7B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11480" y="2944368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7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目标长度：500–800 中文字符，最大 1,200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11480" y="3364992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7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Overlap：80–120 字，保证上下文连贯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11480" y="3785616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7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过短（&lt;120字）合并；按标题/段落边界切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11480" y="420624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7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前缀：来源类型 + 标题 + 栏目 + 域名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846320" y="2880360"/>
            <a:ext cx="3931920" cy="1874520"/>
          </a:xfrm>
          <a:prstGeom prst="rect">
            <a:avLst/>
          </a:prstGeom>
          <a:solidFill>
            <a:srgbClr val="ECFDF5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983480" y="2944368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 Markdown 标题层级切分语义块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983480" y="3364992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150–900字直接成块，超长按段落再切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983480" y="3785616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表格整体保留，列表成组（不按单条切）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983480" y="420624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保留 heading_path / relative_path 追溯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91220"/>
          </a:solidFill>
          <a:ln w="12700">
            <a:solidFill>
              <a:srgbClr val="09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技术架构 &amp; 系统流程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9456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37160" y="777240"/>
            <a:ext cx="1325880" cy="685800"/>
          </a:xfrm>
          <a:prstGeom prst="rect">
            <a:avLst/>
          </a:prstGeom>
          <a:solidFill>
            <a:srgbClr val="F97316">
              <a:alpha val="80000"/>
            </a:srgbClr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777240"/>
            <a:ext cx="13258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用户输入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63040" y="777240"/>
            <a:ext cx="228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554480" y="777240"/>
            <a:ext cx="1325880" cy="685800"/>
          </a:xfrm>
          <a:prstGeom prst="rect">
            <a:avLst/>
          </a:prstGeom>
          <a:solidFill>
            <a:srgbClr val="1A7BA4">
              <a:alpha val="80000"/>
            </a:srgbClr>
          </a:solidFill>
          <a:ln w="19050">
            <a:solidFill>
              <a:srgbClr val="1A7B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777240"/>
            <a:ext cx="13258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向量化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80360" y="777240"/>
            <a:ext cx="228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971800" y="777240"/>
            <a:ext cx="1325880" cy="685800"/>
          </a:xfrm>
          <a:prstGeom prst="rect">
            <a:avLst/>
          </a:prstGeom>
          <a:solidFill>
            <a:srgbClr val="1A7BA4">
              <a:alpha val="80000"/>
            </a:srgbClr>
          </a:solidFill>
          <a:ln w="19050">
            <a:solidFill>
              <a:srgbClr val="1A7B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71800" y="777240"/>
            <a:ext cx="13258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稠密检索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97680" y="777240"/>
            <a:ext cx="228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389120" y="777240"/>
            <a:ext cx="1325880" cy="685800"/>
          </a:xfrm>
          <a:prstGeom prst="rect">
            <a:avLst/>
          </a:prstGeom>
          <a:solidFill>
            <a:srgbClr val="02A9BD">
              <a:alpha val="80000"/>
            </a:srgbClr>
          </a:solidFill>
          <a:ln w="19050">
            <a:solidFill>
              <a:srgbClr val="02A9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777240"/>
            <a:ext cx="13258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重排序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15000" y="777240"/>
            <a:ext cx="228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806440" y="777240"/>
            <a:ext cx="1325880" cy="685800"/>
          </a:xfrm>
          <a:prstGeom prst="rect">
            <a:avLst/>
          </a:prstGeom>
          <a:solidFill>
            <a:srgbClr val="02A9BD">
              <a:alpha val="80000"/>
            </a:srgbClr>
          </a:solidFill>
          <a:ln w="19050">
            <a:solidFill>
              <a:srgbClr val="02A9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777240"/>
            <a:ext cx="13258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上下文拼接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32320" y="777240"/>
            <a:ext cx="228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223760" y="777240"/>
            <a:ext cx="1325880" cy="685800"/>
          </a:xfrm>
          <a:prstGeom prst="rect">
            <a:avLst/>
          </a:prstGeom>
          <a:solidFill>
            <a:srgbClr val="10B981">
              <a:alpha val="80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0" y="777240"/>
            <a:ext cx="13258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生成回答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" y="1463040"/>
            <a:ext cx="132588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用户问题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554480" y="1463040"/>
            <a:ext cx="132588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Qwen3-Embed-4B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971800" y="1463040"/>
            <a:ext cx="132588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top-50 候选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389120" y="1463040"/>
            <a:ext cx="132588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Qwen3-Rerank-4B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06440" y="1463040"/>
            <a:ext cx="132588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证据格式化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Authority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223760" y="1463040"/>
            <a:ext cx="132588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Qwen3.5-27B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82880" y="2103120"/>
            <a:ext cx="8778240" cy="0"/>
          </a:xfrm>
          <a:prstGeom prst="line">
            <a:avLst/>
          </a:prstGeom>
          <a:noFill/>
          <a:ln w="12700">
            <a:solidFill>
              <a:srgbClr val="1A305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274320" y="219456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知识库构建流程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82880" y="2514600"/>
            <a:ext cx="1508760" cy="749808"/>
          </a:xfrm>
          <a:prstGeom prst="roundRect">
            <a:avLst>
              <a:gd name="adj" fmla="val 9756"/>
            </a:avLst>
          </a:prstGeom>
          <a:solidFill>
            <a:srgbClr val="0D2B45"/>
          </a:solidFill>
          <a:ln w="12700">
            <a:solidFill>
              <a:srgbClr val="1A7BA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2880" y="2514600"/>
            <a:ext cx="150876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原始数据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(JSONL+MD)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691640" y="2514600"/>
            <a:ext cx="1828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A7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1874520" y="2514600"/>
            <a:ext cx="1508760" cy="749808"/>
          </a:xfrm>
          <a:prstGeom prst="roundRect">
            <a:avLst>
              <a:gd name="adj" fmla="val 9756"/>
            </a:avLst>
          </a:prstGeom>
          <a:solidFill>
            <a:srgbClr val="0D2B45"/>
          </a:solidFill>
          <a:ln w="12700">
            <a:solidFill>
              <a:srgbClr val="1A7BA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74520" y="2514600"/>
            <a:ext cx="150876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清洗去重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切片Chunk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383280" y="2514600"/>
            <a:ext cx="1828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A7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3566160" y="2514600"/>
            <a:ext cx="1508760" cy="749808"/>
          </a:xfrm>
          <a:prstGeom prst="roundRect">
            <a:avLst>
              <a:gd name="adj" fmla="val 9756"/>
            </a:avLst>
          </a:prstGeom>
          <a:solidFill>
            <a:srgbClr val="0D2B45"/>
          </a:solidFill>
          <a:ln w="12700">
            <a:solidFill>
              <a:srgbClr val="1A7BA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66160" y="2514600"/>
            <a:ext cx="150876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向量化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074920" y="2514600"/>
            <a:ext cx="1828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A7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5257800" y="2514600"/>
            <a:ext cx="1508760" cy="749808"/>
          </a:xfrm>
          <a:prstGeom prst="roundRect">
            <a:avLst>
              <a:gd name="adj" fmla="val 9756"/>
            </a:avLst>
          </a:prstGeom>
          <a:solidFill>
            <a:srgbClr val="0D2B45"/>
          </a:solidFill>
          <a:ln w="12700">
            <a:solidFill>
              <a:srgbClr val="1A7BA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57800" y="2514600"/>
            <a:ext cx="150876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持久化索引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766560" y="2514600"/>
            <a:ext cx="1828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A7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6949440" y="2514600"/>
            <a:ext cx="1508760" cy="749808"/>
          </a:xfrm>
          <a:prstGeom prst="roundRect">
            <a:avLst>
              <a:gd name="adj" fmla="val 9756"/>
            </a:avLst>
          </a:prstGeom>
          <a:solidFill>
            <a:srgbClr val="0D2B45"/>
          </a:solidFill>
          <a:ln w="12700">
            <a:solidFill>
              <a:srgbClr val="1A7BA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49440" y="2514600"/>
            <a:ext cx="150876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基线索引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274320" y="3401568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模式对照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274320" y="3712464"/>
            <a:ext cx="2029968" cy="603504"/>
          </a:xfrm>
          <a:prstGeom prst="rect">
            <a:avLst/>
          </a:prstGeom>
          <a:solidFill>
            <a:srgbClr val="091A2A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4320" y="3712464"/>
            <a:ext cx="2029968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no_rag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274320" y="3931920"/>
            <a:ext cx="202996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直接问 LLM，无检索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274320" y="4133088"/>
            <a:ext cx="202996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 Baseline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450592" y="3712464"/>
            <a:ext cx="2029968" cy="603504"/>
          </a:xfrm>
          <a:prstGeom prst="rect">
            <a:avLst/>
          </a:prstGeom>
          <a:solidFill>
            <a:srgbClr val="091A2A"/>
          </a:solidFill>
          <a:ln w="12700">
            <a:solidFill>
              <a:srgbClr val="1A7BA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450592" y="3712464"/>
            <a:ext cx="2029968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rag_dense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450592" y="3931920"/>
            <a:ext cx="202996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Qwen3-Embed top5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2450592" y="4133088"/>
            <a:ext cx="202996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A7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语义检索基线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626864" y="3712464"/>
            <a:ext cx="2029968" cy="603504"/>
          </a:xfrm>
          <a:prstGeom prst="rect">
            <a:avLst/>
          </a:prstGeom>
          <a:solidFill>
            <a:srgbClr val="091A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626864" y="3712464"/>
            <a:ext cx="2029968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rag_rerank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4626864" y="3931920"/>
            <a:ext cx="202996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top50 + reranker top5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4626864" y="4133088"/>
            <a:ext cx="202996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首轮最强配置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803136" y="3712464"/>
            <a:ext cx="2029968" cy="603504"/>
          </a:xfrm>
          <a:prstGeom prst="rect">
            <a:avLst/>
          </a:prstGeom>
          <a:solidFill>
            <a:srgbClr val="091A2A"/>
          </a:solidFill>
          <a:ln w="12700">
            <a:solidFill>
              <a:srgbClr val="02A9B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803136" y="3712464"/>
            <a:ext cx="2029968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rag_bm25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803136" y="3931920"/>
            <a:ext cx="202996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top5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803136" y="4133088"/>
            <a:ext cx="202996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传统检索对照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模型选型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945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2834640" cy="3931920"/>
          </a:xfrm>
          <a:prstGeom prst="rect">
            <a:avLst/>
          </a:prstGeom>
          <a:solidFill>
            <a:srgbClr val="F0F7FF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22960"/>
            <a:ext cx="283464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822960"/>
            <a:ext cx="2834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生成模型（主推）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" y="1371600"/>
            <a:ext cx="2615184" cy="43891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371600"/>
            <a:ext cx="261518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Qwen/Qwen3.5-27B-GPTQ-Int4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92024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27B 规模适合复杂中文问答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432304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GPTQ 4-bit 适配 A6000 显存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944368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中/英/代码/指令遵循均衡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3456432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OpenAI-compatible API 部署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8328" y="4251960"/>
            <a:ext cx="2615184" cy="347472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4251960"/>
            <a:ext cx="2615184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Qwen3.5-9B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72968" y="822960"/>
            <a:ext cx="2834640" cy="3931920"/>
          </a:xfrm>
          <a:prstGeom prst="rect">
            <a:avLst/>
          </a:prstGeom>
          <a:solidFill>
            <a:srgbClr val="F0F7FF"/>
          </a:solidFill>
          <a:ln w="19050">
            <a:solidFill>
              <a:srgbClr val="1A7B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72968" y="822960"/>
            <a:ext cx="2834640" cy="457200"/>
          </a:xfrm>
          <a:prstGeom prst="rect">
            <a:avLst/>
          </a:prstGeom>
          <a:solidFill>
            <a:srgbClr val="1A7BA4"/>
          </a:solidFill>
          <a:ln w="12700">
            <a:solidFill>
              <a:srgbClr val="1A7B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72968" y="822960"/>
            <a:ext cx="2834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模型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82696" y="1371600"/>
            <a:ext cx="2615184" cy="43891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82696" y="1371600"/>
            <a:ext cx="261518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Qwen/Qwen3-Embedding-4B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10128" y="192024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中文语料语义检索能力强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10128" y="2432304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支持长文档（规章/手册）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10128" y="2944368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可定制检索目标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10128" y="3456432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与生成模型同生态，设计一致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82696" y="4251960"/>
            <a:ext cx="2615184" cy="347472"/>
          </a:xfrm>
          <a:prstGeom prst="rect">
            <a:avLst/>
          </a:prstGeom>
          <a:solidFill>
            <a:srgbClr val="1A7BA4">
              <a:alpha val="20000"/>
            </a:srgbClr>
          </a:solidFill>
          <a:ln w="12700">
            <a:solidFill>
              <a:srgbClr val="1A7B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82696" y="4251960"/>
            <a:ext cx="2615184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A7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BAAI/bge-m3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17336" y="822960"/>
            <a:ext cx="2834640" cy="3931920"/>
          </a:xfrm>
          <a:prstGeom prst="rect">
            <a:avLst/>
          </a:prstGeom>
          <a:solidFill>
            <a:srgbClr val="F0F7FF"/>
          </a:solidFill>
          <a:ln w="19050">
            <a:solidFill>
              <a:srgbClr val="02A9B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17336" y="822960"/>
            <a:ext cx="2834640" cy="457200"/>
          </a:xfrm>
          <a:prstGeom prst="rect">
            <a:avLst/>
          </a:prstGeom>
          <a:solidFill>
            <a:srgbClr val="02A9BD"/>
          </a:solidFill>
          <a:ln w="12700">
            <a:solidFill>
              <a:srgbClr val="02A9B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17336" y="822960"/>
            <a:ext cx="2834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Reranker 模型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27064" y="1371600"/>
            <a:ext cx="2615184" cy="43891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27064" y="1371600"/>
            <a:ext cx="261518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Qwen/Qwen3-Reranker-4B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54496" y="192024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 top-50 候选精细排序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54496" y="2432304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提升 top-5 证据质量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54496" y="2944368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离线评测 + 缓存结果展示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54496" y="3456432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在线精确模式按需启用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27064" y="4251960"/>
            <a:ext cx="2615184" cy="347472"/>
          </a:xfrm>
          <a:prstGeom prst="rect">
            <a:avLst/>
          </a:prstGeom>
          <a:solidFill>
            <a:srgbClr val="02A9BD">
              <a:alpha val="20000"/>
            </a:srgbClr>
          </a:solidFill>
          <a:ln w="12700">
            <a:solidFill>
              <a:srgbClr val="02A9B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27064" y="4251960"/>
            <a:ext cx="2615184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BM25 top5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28600" y="4796028"/>
            <a:ext cx="868680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A7BA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" y="4796028"/>
            <a:ext cx="8686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7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部署方案：vLLM OpenAI-compatible API ｜ --max-model-len 16384 ｜ --gpu-memory-utilization 0.85 ｜ CUDA A6000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实验设计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0" y="0"/>
            <a:ext cx="24688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Design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3017520" cy="4114800"/>
          </a:xfrm>
          <a:prstGeom prst="rect">
            <a:avLst/>
          </a:prstGeom>
          <a:solidFill>
            <a:srgbClr val="F0F7FF"/>
          </a:solidFill>
          <a:ln w="19050">
            <a:solidFill>
              <a:srgbClr val="1A7B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77240"/>
            <a:ext cx="3017520" cy="411480"/>
          </a:xfrm>
          <a:prstGeom prst="rect">
            <a:avLst/>
          </a:prstGeom>
          <a:solidFill>
            <a:srgbClr val="1A7BA4"/>
          </a:solidFill>
          <a:ln w="12700">
            <a:solidFill>
              <a:srgbClr val="1A7B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777240"/>
            <a:ext cx="30175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测试集设计  50+ 题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" y="1261872"/>
            <a:ext cx="2103120" cy="320040"/>
          </a:xfrm>
          <a:prstGeom prst="rect">
            <a:avLst/>
          </a:prstGeom>
          <a:solidFill>
            <a:srgbClr val="EFF6FF"/>
          </a:solidFill>
          <a:ln w="6350">
            <a:solidFill>
              <a:srgbClr val="1A7B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261872"/>
            <a:ext cx="2103120" cy="320040"/>
          </a:xfrm>
          <a:prstGeom prst="rect">
            <a:avLst/>
          </a:prstGeom>
          <a:noFill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学校事实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50592" y="1261872"/>
            <a:ext cx="658368" cy="320040"/>
          </a:xfrm>
          <a:prstGeom prst="rect">
            <a:avLst/>
          </a:prstGeom>
          <a:solidFill>
            <a:srgbClr val="1A7BA4"/>
          </a:solidFill>
          <a:ln w="12700">
            <a:solidFill>
              <a:srgbClr val="1A7B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1261872"/>
            <a:ext cx="65836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8题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1655064"/>
            <a:ext cx="2103120" cy="320040"/>
          </a:xfrm>
          <a:prstGeom prst="rect">
            <a:avLst/>
          </a:prstGeom>
          <a:solidFill>
            <a:srgbClr val="EFF6FF"/>
          </a:solidFill>
          <a:ln w="6350">
            <a:solidFill>
              <a:srgbClr val="1A7B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655064"/>
            <a:ext cx="2103120" cy="320040"/>
          </a:xfrm>
          <a:prstGeom prst="rect">
            <a:avLst/>
          </a:prstGeom>
          <a:noFill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政策制度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50592" y="1655064"/>
            <a:ext cx="658368" cy="320040"/>
          </a:xfrm>
          <a:prstGeom prst="rect">
            <a:avLst/>
          </a:prstGeom>
          <a:solidFill>
            <a:srgbClr val="1A7BA4"/>
          </a:solidFill>
          <a:ln w="12700">
            <a:solidFill>
              <a:srgbClr val="1A7B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50592" y="1655064"/>
            <a:ext cx="65836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2048256"/>
            <a:ext cx="2103120" cy="320040"/>
          </a:xfrm>
          <a:prstGeom prst="rect">
            <a:avLst/>
          </a:prstGeom>
          <a:solidFill>
            <a:srgbClr val="EFF6FF"/>
          </a:solidFill>
          <a:ln w="6350">
            <a:solidFill>
              <a:srgbClr val="1A7B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048256"/>
            <a:ext cx="2103120" cy="320040"/>
          </a:xfrm>
          <a:prstGeom prst="rect">
            <a:avLst/>
          </a:prstGeom>
          <a:noFill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院系信息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2048256"/>
            <a:ext cx="658368" cy="320040"/>
          </a:xfrm>
          <a:prstGeom prst="rect">
            <a:avLst/>
          </a:prstGeom>
          <a:solidFill>
            <a:srgbClr val="1A7BA4"/>
          </a:solidFill>
          <a:ln w="12700">
            <a:solidFill>
              <a:srgbClr val="1A7BA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50592" y="2048256"/>
            <a:ext cx="65836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8题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" y="2441448"/>
            <a:ext cx="2103120" cy="320040"/>
          </a:xfrm>
          <a:prstGeom prst="rect">
            <a:avLst/>
          </a:prstGeom>
          <a:solidFill>
            <a:srgbClr val="EFF6FF"/>
          </a:solidFill>
          <a:ln w="6350">
            <a:solidFill>
              <a:srgbClr val="1A7B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441448"/>
            <a:ext cx="2103120" cy="320040"/>
          </a:xfrm>
          <a:prstGeom prst="rect">
            <a:avLst/>
          </a:prstGeom>
          <a:noFill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教师科研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450592" y="2441448"/>
            <a:ext cx="658368" cy="320040"/>
          </a:xfrm>
          <a:prstGeom prst="rect">
            <a:avLst/>
          </a:prstGeom>
          <a:solidFill>
            <a:srgbClr val="1A7BA4"/>
          </a:solidFill>
          <a:ln w="12700">
            <a:solidFill>
              <a:srgbClr val="1A7BA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50592" y="2441448"/>
            <a:ext cx="65836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6题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7472" y="2834640"/>
            <a:ext cx="2103120" cy="320040"/>
          </a:xfrm>
          <a:prstGeom prst="rect">
            <a:avLst/>
          </a:prstGeom>
          <a:solidFill>
            <a:srgbClr val="EFF6FF"/>
          </a:solidFill>
          <a:ln w="6350">
            <a:solidFill>
              <a:srgbClr val="1A7BA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2834640"/>
            <a:ext cx="2103120" cy="320040"/>
          </a:xfrm>
          <a:prstGeom prst="rect">
            <a:avLst/>
          </a:prstGeom>
          <a:noFill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图书馆服务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450592" y="2834640"/>
            <a:ext cx="658368" cy="320040"/>
          </a:xfrm>
          <a:prstGeom prst="rect">
            <a:avLst/>
          </a:prstGeom>
          <a:solidFill>
            <a:srgbClr val="1A7BA4"/>
          </a:solidFill>
          <a:ln w="12700">
            <a:solidFill>
              <a:srgbClr val="1A7BA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50592" y="2834640"/>
            <a:ext cx="65836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5题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7472" y="3227832"/>
            <a:ext cx="2103120" cy="320040"/>
          </a:xfrm>
          <a:prstGeom prst="rect">
            <a:avLst/>
          </a:prstGeom>
          <a:solidFill>
            <a:srgbClr val="EFF6FF"/>
          </a:solidFill>
          <a:ln w="6350">
            <a:solidFill>
              <a:srgbClr val="1A7BA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3227832"/>
            <a:ext cx="2103120" cy="320040"/>
          </a:xfrm>
          <a:prstGeom prst="rect">
            <a:avLst/>
          </a:prstGeom>
          <a:noFill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校园生活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450592" y="3227832"/>
            <a:ext cx="658368" cy="320040"/>
          </a:xfrm>
          <a:prstGeom prst="rect">
            <a:avLst/>
          </a:prstGeom>
          <a:solidFill>
            <a:srgbClr val="1A7BA4"/>
          </a:solidFill>
          <a:ln w="12700">
            <a:solidFill>
              <a:srgbClr val="1A7BA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50592" y="3227832"/>
            <a:ext cx="65836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6题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47472" y="3621024"/>
            <a:ext cx="2103120" cy="320040"/>
          </a:xfrm>
          <a:prstGeom prst="rect">
            <a:avLst/>
          </a:prstGeom>
          <a:solidFill>
            <a:srgbClr val="EFF6FF"/>
          </a:solidFill>
          <a:ln w="6350">
            <a:solidFill>
              <a:srgbClr val="1A7BA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3621024"/>
            <a:ext cx="2103120" cy="320040"/>
          </a:xfrm>
          <a:prstGeom prst="rect">
            <a:avLst/>
          </a:prstGeom>
          <a:noFill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时间地点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450592" y="3621024"/>
            <a:ext cx="658368" cy="320040"/>
          </a:xfrm>
          <a:prstGeom prst="rect">
            <a:avLst/>
          </a:prstGeom>
          <a:solidFill>
            <a:srgbClr val="1A7BA4"/>
          </a:solidFill>
          <a:ln w="12700">
            <a:solidFill>
              <a:srgbClr val="1A7BA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50592" y="3621024"/>
            <a:ext cx="65836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4题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47472" y="4014216"/>
            <a:ext cx="2103120" cy="320040"/>
          </a:xfrm>
          <a:prstGeom prst="rect">
            <a:avLst/>
          </a:prstGeom>
          <a:solidFill>
            <a:srgbClr val="EFF6FF"/>
          </a:solidFill>
          <a:ln w="6350">
            <a:solidFill>
              <a:srgbClr val="1A7BA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4014216"/>
            <a:ext cx="2103120" cy="320040"/>
          </a:xfrm>
          <a:prstGeom prst="rect">
            <a:avLst/>
          </a:prstGeom>
          <a:noFill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跨来源综合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450592" y="4014216"/>
            <a:ext cx="658368" cy="320040"/>
          </a:xfrm>
          <a:prstGeom prst="rect">
            <a:avLst/>
          </a:prstGeom>
          <a:solidFill>
            <a:srgbClr val="1A7BA4"/>
          </a:solidFill>
          <a:ln w="12700">
            <a:solidFill>
              <a:srgbClr val="1A7BA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50592" y="4014216"/>
            <a:ext cx="65836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5题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429000" y="777240"/>
            <a:ext cx="5440680" cy="4114800"/>
          </a:xfrm>
          <a:prstGeom prst="rect">
            <a:avLst/>
          </a:prstGeom>
          <a:solidFill>
            <a:srgbClr val="F0F7FF"/>
          </a:solidFill>
          <a:ln w="19050">
            <a:solidFill>
              <a:srgbClr val="02A9B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429000" y="777240"/>
            <a:ext cx="544068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29000" y="777240"/>
            <a:ext cx="5440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实验矩阵  首轮必跑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547872" y="1252728"/>
            <a:ext cx="1005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主效果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547872" y="1499616"/>
            <a:ext cx="411480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47872" y="1499616"/>
            <a:ext cx="4114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005072" y="1499616"/>
            <a:ext cx="4754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41648" y="1499616"/>
            <a:ext cx="14630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27B 无 RAG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532120" y="1499616"/>
            <a:ext cx="1737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315200" y="1499616"/>
            <a:ext cx="138988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基础模型 Baseline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547872" y="2212848"/>
            <a:ext cx="411480" cy="384048"/>
          </a:xfrm>
          <a:prstGeom prst="rect">
            <a:avLst/>
          </a:prstGeom>
          <a:solidFill>
            <a:srgbClr val="1A7BA4"/>
          </a:solidFill>
          <a:ln w="12700">
            <a:solidFill>
              <a:srgbClr val="1A7BA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47872" y="2212848"/>
            <a:ext cx="4114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4005072" y="2212848"/>
            <a:ext cx="4754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A7BA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041648" y="2212848"/>
            <a:ext cx="14630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27B + dense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532120" y="2212848"/>
            <a:ext cx="1737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Qwen3-Embed top5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315200" y="2212848"/>
            <a:ext cx="138988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7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最小 RAG 增益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547872" y="2926080"/>
            <a:ext cx="41148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547872" y="2926080"/>
            <a:ext cx="4114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4005072" y="2926080"/>
            <a:ext cx="4754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041648" y="2926080"/>
            <a:ext cx="14630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27B + dense + reranker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532120" y="2926080"/>
            <a:ext cx="1737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top50 → reranker top5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315200" y="2926080"/>
            <a:ext cx="138988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首轮最强配置 ★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3547872" y="3392424"/>
            <a:ext cx="1005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检索方式对照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547872" y="3639312"/>
            <a:ext cx="411480" cy="3840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547872" y="3639312"/>
            <a:ext cx="4114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4005072" y="3639312"/>
            <a:ext cx="4754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041648" y="3639312"/>
            <a:ext cx="14630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27B + BM25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532120" y="3639312"/>
            <a:ext cx="1737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top5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7315200" y="3639312"/>
            <a:ext cx="138988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传统检索对照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228600" y="4892294"/>
            <a:ext cx="8686800" cy="27432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28600" y="4892294"/>
            <a:ext cx="8686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评分维度：正确性 / 依据一致性 / 完整性 / 可追溯性（各 0-2 分，满分 8 分）+ 关键词命中 / 引用来源命中 / 延迟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当前进展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0" y="0"/>
            <a:ext cx="24688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Progress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4224528" cy="1993392"/>
          </a:xfrm>
          <a:prstGeom prst="rect">
            <a:avLst/>
          </a:prstGeom>
          <a:solidFill>
            <a:srgbClr val="F0F7FF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04672"/>
            <a:ext cx="457200" cy="19933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804672"/>
            <a:ext cx="457200" cy="19933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03320" y="850392"/>
            <a:ext cx="713232" cy="27432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850392"/>
            <a:ext cx="71323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850392"/>
            <a:ext cx="2880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数据清洗完成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280160"/>
            <a:ext cx="36118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 JSONL + 手册 MD 统一读取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1755648"/>
            <a:ext cx="36118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规范化去重，text-hash 去重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2231136"/>
            <a:ext cx="36118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processed_documents.jsonl 输出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804672"/>
            <a:ext cx="4224528" cy="1993392"/>
          </a:xfrm>
          <a:prstGeom prst="rect">
            <a:avLst/>
          </a:prstGeom>
          <a:solidFill>
            <a:srgbClr val="F0F7FF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804672"/>
            <a:ext cx="457200" cy="19933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804672"/>
            <a:ext cx="457200" cy="19933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83880" y="850392"/>
            <a:ext cx="713232" cy="27432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83880" y="850392"/>
            <a:ext cx="71323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57800" y="850392"/>
            <a:ext cx="2880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构建完成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57800" y="1280160"/>
            <a:ext cx="36118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chunks_default/small/large.jsonl 三份输出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57800" y="1755648"/>
            <a:ext cx="36118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手册按 Markdown 结构化切分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57800" y="2231136"/>
            <a:ext cx="36118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元数据 heading_path / source_family 完整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8600" y="2953512"/>
            <a:ext cx="4224528" cy="1993392"/>
          </a:xfrm>
          <a:prstGeom prst="rect">
            <a:avLst/>
          </a:prstGeom>
          <a:solidFill>
            <a:srgbClr val="F0F7FF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2953512"/>
            <a:ext cx="457200" cy="19933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2953512"/>
            <a:ext cx="457200" cy="19933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703320" y="2999232"/>
            <a:ext cx="713232" cy="27432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03320" y="2999232"/>
            <a:ext cx="71323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进行中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" y="2999232"/>
            <a:ext cx="2880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A6000 最强链路部署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77240" y="3429000"/>
            <a:ext cx="36118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27B 服务启动验证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" y="3904488"/>
            <a:ext cx="36118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Qwen3-Embedding 向量库构建中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7240" y="4379976"/>
            <a:ext cx="36118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rag_rerank 端到端联调中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2953512"/>
            <a:ext cx="4224528" cy="1993392"/>
          </a:xfrm>
          <a:prstGeom prst="rect">
            <a:avLst/>
          </a:prstGeom>
          <a:solidFill>
            <a:srgbClr val="F0F7FF"/>
          </a:solidFill>
          <a:ln w="19050">
            <a:solidFill>
              <a:srgbClr val="94A3B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2953512"/>
            <a:ext cx="457200" cy="19933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2953512"/>
            <a:ext cx="457200" cy="19933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183880" y="2999232"/>
            <a:ext cx="713232" cy="274320"/>
          </a:xfrm>
          <a:prstGeom prst="rect">
            <a:avLst/>
          </a:prstGeom>
          <a:solidFill>
            <a:srgbClr val="94A3B8">
              <a:alpha val="8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83880" y="2999232"/>
            <a:ext cx="71323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待开始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57800" y="2999232"/>
            <a:ext cx="2880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远程访问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257800" y="3429000"/>
            <a:ext cx="36118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--server.headless 启动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57800" y="3904488"/>
            <a:ext cx="36118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端口转发笔记本访问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57800" y="4379976"/>
            <a:ext cx="36118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无显示器部署验证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91220"/>
          </a:solidFill>
          <a:ln w="12700">
            <a:solidFill>
              <a:srgbClr val="09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未来时间规划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310896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&amp; Milestones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8412480" cy="73152"/>
          </a:xfrm>
          <a:prstGeom prst="rect">
            <a:avLst/>
          </a:prstGeom>
          <a:solidFill>
            <a:srgbClr val="1A7BA4"/>
          </a:solidFill>
          <a:ln w="12700">
            <a:solidFill>
              <a:srgbClr val="1A7BA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463040"/>
            <a:ext cx="173736" cy="17373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43000"/>
            <a:ext cx="1325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755648"/>
            <a:ext cx="1325880" cy="3154680"/>
          </a:xfrm>
          <a:prstGeom prst="rect">
            <a:avLst/>
          </a:prstGeom>
          <a:solidFill>
            <a:srgbClr val="0D2137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755648"/>
            <a:ext cx="1325880" cy="384048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755648"/>
            <a:ext cx="1325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部署完成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" y="2194560"/>
            <a:ext cx="1207008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A6000 最强链路跑通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184" y="3017520"/>
            <a:ext cx="1207008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rag_rerank 端到端完成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" y="3840480"/>
            <a:ext cx="1207008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27B 服务稳定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61488" y="1463040"/>
            <a:ext cx="173736" cy="173736"/>
          </a:xfrm>
          <a:prstGeom prst="ellipse">
            <a:avLst/>
          </a:prstGeom>
          <a:solidFill>
            <a:srgbClr val="02A9BD"/>
          </a:solidFill>
          <a:ln w="12700">
            <a:solidFill>
              <a:srgbClr val="02A9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1143000"/>
            <a:ext cx="1325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第2周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94560" y="1755648"/>
            <a:ext cx="1325880" cy="3154680"/>
          </a:xfrm>
          <a:prstGeom prst="rect">
            <a:avLst/>
          </a:prstGeom>
          <a:solidFill>
            <a:srgbClr val="0D2137"/>
          </a:solidFill>
          <a:ln w="15240">
            <a:solidFill>
              <a:srgbClr val="02A9B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0" y="1755648"/>
            <a:ext cx="1325880" cy="384048"/>
          </a:xfrm>
          <a:prstGeom prst="rect">
            <a:avLst/>
          </a:prstGeom>
          <a:solidFill>
            <a:srgbClr val="02A9BD">
              <a:alpha val="80000"/>
            </a:srgbClr>
          </a:solidFill>
          <a:ln w="12700">
            <a:solidFill>
              <a:srgbClr val="02A9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94560" y="1755648"/>
            <a:ext cx="1325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M4-M5 联调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49424" y="2194560"/>
            <a:ext cx="1207008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端口转发验证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49424" y="3017520"/>
            <a:ext cx="1207008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no_rag/rag_dense 对照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49424" y="3840480"/>
            <a:ext cx="1207008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10题手工问答样例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81728" y="1463040"/>
            <a:ext cx="173736" cy="173736"/>
          </a:xfrm>
          <a:prstGeom prst="ellipse">
            <a:avLst/>
          </a:prstGeom>
          <a:solidFill>
            <a:srgbClr val="1A7BA4"/>
          </a:solidFill>
          <a:ln w="12700">
            <a:solidFill>
              <a:srgbClr val="1A7BA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0" y="1143000"/>
            <a:ext cx="1325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7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第3周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0" y="1755648"/>
            <a:ext cx="1325880" cy="3154680"/>
          </a:xfrm>
          <a:prstGeom prst="rect">
            <a:avLst/>
          </a:prstGeom>
          <a:solidFill>
            <a:srgbClr val="0D2137"/>
          </a:solidFill>
          <a:ln w="15240">
            <a:solidFill>
              <a:srgbClr val="1A7BA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0" y="1755648"/>
            <a:ext cx="1325880" cy="384048"/>
          </a:xfrm>
          <a:prstGeom prst="rect">
            <a:avLst/>
          </a:prstGeom>
          <a:solidFill>
            <a:srgbClr val="1A7BA4">
              <a:alpha val="80000"/>
            </a:srgbClr>
          </a:solidFill>
          <a:ln w="12700">
            <a:solidFill>
              <a:srgbClr val="1A7B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0" y="1755648"/>
            <a:ext cx="1325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评测完成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69664" y="2194560"/>
            <a:ext cx="1207008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7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测试题构建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69664" y="3017520"/>
            <a:ext cx="1207008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7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R1/R2/R3 实验完成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69664" y="3840480"/>
            <a:ext cx="1207008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7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BM25 检索对照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01968" y="1463040"/>
            <a:ext cx="173736" cy="1737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1143000"/>
            <a:ext cx="1325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第4周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35040" y="1755648"/>
            <a:ext cx="1325880" cy="3154680"/>
          </a:xfrm>
          <a:prstGeom prst="rect">
            <a:avLst/>
          </a:prstGeom>
          <a:solidFill>
            <a:srgbClr val="0D2137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1755648"/>
            <a:ext cx="1325880" cy="38404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0" y="1755648"/>
            <a:ext cx="1325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 演示系统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089904" y="2194560"/>
            <a:ext cx="1207008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5 个 Tab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89904" y="3017520"/>
            <a:ext cx="1207008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回放模式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89904" y="3840480"/>
            <a:ext cx="1207008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问题集准备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522208" y="1463040"/>
            <a:ext cx="173736" cy="17373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55280" y="1143000"/>
            <a:ext cx="1325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第5周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818120" y="1755648"/>
            <a:ext cx="1325880" cy="3154680"/>
          </a:xfrm>
          <a:prstGeom prst="rect">
            <a:avLst/>
          </a:prstGeom>
          <a:solidFill>
            <a:srgbClr val="0D2137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818120" y="1755648"/>
            <a:ext cx="1325880" cy="384048"/>
          </a:xfrm>
          <a:prstGeom prst="rect">
            <a:avLst/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18120" y="1755648"/>
            <a:ext cx="1325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 报告 PPT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818374" y="2194560"/>
            <a:ext cx="1207008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报告覆盖全部章节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845679" y="3017520"/>
            <a:ext cx="1207008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12-15 页完成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845679" y="3840480"/>
            <a:ext cx="1207008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错误分析与总结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4800600"/>
            <a:ext cx="859536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1A7BA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800600"/>
            <a:ext cx="8595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扩展实验（有时间再跑）：bge-m3 对比 ｜ Chunk Size 消融 ｜ top-k 消融 ｜ 数据源消融（只官网 vs 只手册 vs 合并）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A9BD"/>
          </a:solidFill>
          <a:ln w="12700">
            <a:solidFill>
              <a:srgbClr val="02A9B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474720"/>
            <a:ext cx="3200400" cy="3200400"/>
          </a:xfrm>
          <a:prstGeom prst="ellipse">
            <a:avLst/>
          </a:prstGeom>
          <a:solidFill>
            <a:srgbClr val="1A7BA4">
              <a:alpha val="15000"/>
            </a:srgbClr>
          </a:solidFill>
          <a:ln w="12700">
            <a:solidFill>
              <a:srgbClr val="1A7BA4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构建了南科大校园专属知识库：38,835 页 + 南科手册，覆盖 104 个域名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084832"/>
            <a:ext cx="80467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 RAG 链路设计：Qwen3-Embed dense → Reranker top5 → 27B 本地生成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752344"/>
            <a:ext cx="80467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7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严格消融实验框架：R1/R2/R3 证明 RAG 价值，S1 传统检索对照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419856"/>
            <a:ext cx="80467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可演示系统：Streamlit + SSH 端口转发，支持实时问答与 cached 回放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4087368"/>
            <a:ext cx="80467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完整评测体系：50+题，8维度人工评分，错误分析与来源可追溯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91220"/>
          </a:solidFill>
          <a:ln w="12700">
            <a:solidFill>
              <a:srgbClr val="0912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0" y="4754880"/>
            <a:ext cx="9144000" cy="3429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2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感谢聆听  |  Q &amp; 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3276</Words>
  <Application>WPS Docs</Application>
  <PresentationFormat>On-screen Show (16:9)</PresentationFormat>
  <Paragraphs>518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5" baseType="lpstr">
      <vt:lpstr>Arial</vt:lpstr>
      <vt:lpstr>SimSun</vt:lpstr>
      <vt:lpstr>Wingdings</vt:lpstr>
      <vt:lpstr>Calibri</vt:lpstr>
      <vt:lpstr>Helvetica Neue</vt:lpstr>
      <vt:lpstr>Calibri</vt:lpstr>
      <vt:lpstr>Calibri</vt:lpstr>
      <vt:lpstr>Microsoft YaHei</vt:lpstr>
      <vt:lpstr>汉仪旗黑</vt:lpstr>
      <vt:lpstr>Arial Unicode MS</vt:lpstr>
      <vt:lpstr>汉仪书宋二KW</vt:lpstr>
      <vt:lpstr>SimSun</vt:lpstr>
      <vt:lpstr>等线</vt:lpstr>
      <vt:lpstr>汉仪中等线KW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SUSTech Campus Knowledge Base with RAG</dc:title>
  <dc:creator>Project Group</dc:creator>
  <dc:subject>PptxGenJS Presentation</dc:subject>
  <cp:lastModifiedBy>范晓乐</cp:lastModifiedBy>
  <cp:revision>2</cp:revision>
  <dcterms:created xsi:type="dcterms:W3CDTF">2026-05-14T10:42:08Z</dcterms:created>
  <dcterms:modified xsi:type="dcterms:W3CDTF">2026-05-14T10:42:08Z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1033-12.1.25869.25869</vt:lpwstr>
  </property>
  <property fmtid="{D5CDD505-2E9C-101B-9397-08002B2CF9AE}" pid="3" name="ICV">
    <vt:lpwstr>FFBA8280E51BB2D600A7056AE64C2F75_42</vt:lpwstr>
  </property>
</Properties>
</file>